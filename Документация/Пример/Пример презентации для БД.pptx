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99" r:id="rId3"/>
    <p:sldId id="295" r:id="rId4"/>
    <p:sldId id="288" r:id="rId5"/>
    <p:sldId id="293" r:id="rId6"/>
    <p:sldId id="290" r:id="rId7"/>
    <p:sldId id="298" r:id="rId8"/>
    <p:sldId id="296" r:id="rId9"/>
    <p:sldId id="29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74269" autoAdjust="0"/>
  </p:normalViewPr>
  <p:slideViewPr>
    <p:cSldViewPr snapToGrid="0">
      <p:cViewPr varScale="1">
        <p:scale>
          <a:sx n="85" d="100"/>
          <a:sy n="85" d="100"/>
        </p:scale>
        <p:origin x="12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выделено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потоков данных (</a:t>
            </a:r>
            <a:r>
              <a:rPr lang="en-US" dirty="0"/>
              <a:t>DFD)</a:t>
            </a:r>
            <a:r>
              <a:rPr lang="ru-RU" dirty="0"/>
              <a:t>  -для  моделировании моделирования передачи информации (или физических компонент) из одной части в другую.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6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8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каждой таблице определены атрибуты и типы данных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9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 (если есть)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2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Тема ДП </a:t>
            </a:r>
          </a:p>
          <a:p>
            <a:pPr marL="182880"/>
            <a:r>
              <a:rPr lang="ru-RU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(как </a:t>
            </a:r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 приказе </a:t>
            </a:r>
            <a:r>
              <a:rPr lang="ru-RU"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 задании)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7123679" y="4910703"/>
            <a:ext cx="5214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ФИО полностью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…..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ФИО полностью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2024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Цель</a:t>
            </a:r>
            <a:r>
              <a:rPr lang="en-US" sz="3200" b="1" dirty="0">
                <a:solidFill>
                  <a:schemeClr val="accent1"/>
                </a:solidFill>
              </a:rPr>
              <a:t>, </a:t>
            </a:r>
            <a:r>
              <a:rPr lang="ru-RU" sz="3200" b="1" dirty="0">
                <a:solidFill>
                  <a:schemeClr val="accent1"/>
                </a:solidFill>
              </a:rPr>
              <a:t>задачи дипломного проектирования </a:t>
            </a:r>
          </a:p>
          <a:p>
            <a:pPr algn="ctr"/>
            <a:r>
              <a:rPr lang="ru-RU" sz="3200" b="1" dirty="0">
                <a:solidFill>
                  <a:schemeClr val="accent1"/>
                </a:solidFill>
              </a:rPr>
              <a:t>(ИЛИ ) </a:t>
            </a:r>
          </a:p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Функциональные задачи программного продукта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455125" y="1803069"/>
            <a:ext cx="5895118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дипломного проектирования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текст, текст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дипломного проектирования</a:t>
            </a: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текст</a:t>
            </a:r>
            <a:endParaRPr lang="ru-RU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текст</a:t>
            </a:r>
            <a:endParaRPr lang="ru-RU" sz="18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….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597533" y="2084236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</a:t>
            </a:r>
            <a:endParaRPr lang="ru-RU" sz="1800" b="1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165100" lvl="0" indent="0" algn="just">
              <a:spcAft>
                <a:spcPts val="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 задания на ДП (перечень что реализовать в программном продукте)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88F0AC-4BC1-4A65-AF08-C4E2C7D8E827}"/>
              </a:ext>
            </a:extLst>
          </p:cNvPr>
          <p:cNvSpPr txBox="1"/>
          <p:nvPr/>
        </p:nvSpPr>
        <p:spPr>
          <a:xfrm>
            <a:off x="5567797" y="2499339"/>
            <a:ext cx="12538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/>
              <a:t>ИЛИ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9720AC8-DF0D-4A16-BF85-60B8C88DC2B2}"/>
              </a:ext>
            </a:extLst>
          </p:cNvPr>
          <p:cNvSpPr/>
          <p:nvPr/>
        </p:nvSpPr>
        <p:spPr>
          <a:xfrm>
            <a:off x="327803" y="1772399"/>
            <a:ext cx="5768196" cy="24114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E9402AD-9DB7-49FA-BBC9-E551971DDFCC}"/>
              </a:ext>
            </a:extLst>
          </p:cNvPr>
          <p:cNvSpPr/>
          <p:nvPr/>
        </p:nvSpPr>
        <p:spPr>
          <a:xfrm>
            <a:off x="6473888" y="1803069"/>
            <a:ext cx="5507001" cy="24114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0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98926" y="290048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</a:rPr>
              <a:t>Предметная дипломного проекта </a:t>
            </a:r>
            <a:r>
              <a:rPr lang="ru-RU" sz="3200" b="1" dirty="0"/>
              <a:t>(если есть)</a:t>
            </a:r>
            <a:endParaRPr lang="ru-RU" sz="3200" b="1" dirty="0">
              <a:solidFill>
                <a:schemeClr val="accent1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20048" y="1613645"/>
            <a:ext cx="4465906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Текст…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Текст….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87C41C-4773-4532-A6A3-185FF3B198B7}"/>
              </a:ext>
            </a:extLst>
          </p:cNvPr>
          <p:cNvSpPr/>
          <p:nvPr/>
        </p:nvSpPr>
        <p:spPr>
          <a:xfrm>
            <a:off x="6315969" y="1885131"/>
            <a:ext cx="4896918" cy="43431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3F9BC-4E99-45F3-A492-772A0CCF5663}"/>
              </a:ext>
            </a:extLst>
          </p:cNvPr>
          <p:cNvSpPr txBox="1"/>
          <p:nvPr/>
        </p:nvSpPr>
        <p:spPr>
          <a:xfrm>
            <a:off x="6495217" y="3438501"/>
            <a:ext cx="4538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связанная с предметной областью</a:t>
            </a:r>
          </a:p>
          <a:p>
            <a:r>
              <a:rPr lang="ru-RU" dirty="0"/>
              <a:t> (можно несколько)</a:t>
            </a:r>
          </a:p>
        </p:txBody>
      </p:sp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38155"/>
              </p:ext>
            </p:extLst>
          </p:nvPr>
        </p:nvGraphicFramePr>
        <p:xfrm>
          <a:off x="510028" y="988185"/>
          <a:ext cx="11171940" cy="5633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картинка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/>
              <a:t>(</a:t>
            </a:r>
            <a:r>
              <a:rPr lang="en-US" sz="2000" dirty="0"/>
              <a:t>USES CASE)</a:t>
            </a:r>
            <a:r>
              <a:rPr lang="ru-RU" sz="2000" dirty="0"/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CEF899-1C04-4973-83E3-FF879F3C73EF}"/>
              </a:ext>
            </a:extLst>
          </p:cNvPr>
          <p:cNvSpPr/>
          <p:nvPr/>
        </p:nvSpPr>
        <p:spPr>
          <a:xfrm>
            <a:off x="590788" y="1930851"/>
            <a:ext cx="4896918" cy="43431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1188873" y="4102412"/>
            <a:ext cx="2744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Картинка диаграммы </a:t>
            </a:r>
          </a:p>
          <a:p>
            <a:pPr algn="ctr"/>
            <a:r>
              <a:rPr lang="ru-RU" dirty="0"/>
              <a:t>вариантов использования</a:t>
            </a:r>
          </a:p>
          <a:p>
            <a:pPr algn="ctr"/>
            <a:r>
              <a:rPr lang="ru-RU" dirty="0"/>
              <a:t> (</a:t>
            </a:r>
            <a:r>
              <a:rPr lang="en-US" dirty="0"/>
              <a:t>USES CASE)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C69366-B880-41BC-B240-885F8248D7E6}"/>
              </a:ext>
            </a:extLst>
          </p:cNvPr>
          <p:cNvSpPr/>
          <p:nvPr/>
        </p:nvSpPr>
        <p:spPr>
          <a:xfrm>
            <a:off x="6315968" y="1885131"/>
            <a:ext cx="5285243" cy="43431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470111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потоков данных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dirty="0"/>
              <a:t>(</a:t>
            </a:r>
            <a:r>
              <a:rPr lang="en-US" sz="2000" dirty="0"/>
              <a:t>DFD)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DB463-03B1-406B-8C90-94477513324D}"/>
              </a:ext>
            </a:extLst>
          </p:cNvPr>
          <p:cNvSpPr txBox="1"/>
          <p:nvPr/>
        </p:nvSpPr>
        <p:spPr>
          <a:xfrm>
            <a:off x="7328210" y="4056692"/>
            <a:ext cx="391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диаграммы потоков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85" y="177119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7823806" y="1232716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CEF899-1C04-4973-83E3-FF879F3C73EF}"/>
              </a:ext>
            </a:extLst>
          </p:cNvPr>
          <p:cNvSpPr/>
          <p:nvPr/>
        </p:nvSpPr>
        <p:spPr>
          <a:xfrm>
            <a:off x="7823806" y="1964199"/>
            <a:ext cx="3948374" cy="2869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1C682-6ABD-4DA4-A18A-A4A9DD4F28D1}"/>
              </a:ext>
            </a:extLst>
          </p:cNvPr>
          <p:cNvSpPr txBox="1"/>
          <p:nvPr/>
        </p:nvSpPr>
        <p:spPr>
          <a:xfrm>
            <a:off x="1062980" y="2017002"/>
            <a:ext cx="357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инфологической модели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00F65-46B5-4BDA-82E3-A79EE7CD287C}"/>
              </a:ext>
            </a:extLst>
          </p:cNvPr>
          <p:cNvSpPr/>
          <p:nvPr/>
        </p:nvSpPr>
        <p:spPr>
          <a:xfrm>
            <a:off x="758361" y="1720229"/>
            <a:ext cx="3882650" cy="17087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DA49E-30E7-40D5-9EAF-A123DB9BAA0B}"/>
              </a:ext>
            </a:extLst>
          </p:cNvPr>
          <p:cNvSpPr txBox="1"/>
          <p:nvPr/>
        </p:nvSpPr>
        <p:spPr>
          <a:xfrm>
            <a:off x="1198718" y="1276418"/>
            <a:ext cx="342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Инфологическая модель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EA76A-2FE1-4BB5-9393-D6D254029C7E}"/>
              </a:ext>
            </a:extLst>
          </p:cNvPr>
          <p:cNvSpPr txBox="1"/>
          <p:nvPr/>
        </p:nvSpPr>
        <p:spPr>
          <a:xfrm>
            <a:off x="8695287" y="2120552"/>
            <a:ext cx="22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Картинка </a:t>
            </a:r>
            <a:r>
              <a:rPr lang="en-US" dirty="0"/>
              <a:t>ER-</a:t>
            </a:r>
            <a:r>
              <a:rPr lang="ru-RU" dirty="0"/>
              <a:t>модели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CDD5E-167F-4D6F-BC5C-67653A818E66}"/>
              </a:ext>
            </a:extLst>
          </p:cNvPr>
          <p:cNvSpPr txBox="1"/>
          <p:nvPr/>
        </p:nvSpPr>
        <p:spPr>
          <a:xfrm>
            <a:off x="7918433" y="5298124"/>
            <a:ext cx="3796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Нормализация (НФ): 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текст,……</a:t>
            </a:r>
          </a:p>
        </p:txBody>
      </p:sp>
      <p:pic>
        <p:nvPicPr>
          <p:cNvPr id="13" name="Изображение7">
            <a:extLst>
              <a:ext uri="{FF2B5EF4-FFF2-40B4-BE49-F238E27FC236}">
                <a16:creationId xmlns:a16="http://schemas.microsoft.com/office/drawing/2014/main" id="{4146EE13-42AA-45FA-B816-316818A8ED9B}"/>
              </a:ext>
            </a:extLst>
          </p:cNvPr>
          <p:cNvPicPr/>
          <p:nvPr/>
        </p:nvPicPr>
        <p:blipFill>
          <a:blip r:embed="rId3"/>
          <a:srcRect l="-123" t="-198" r="-123" b="-198"/>
          <a:stretch>
            <a:fillRect/>
          </a:stretch>
        </p:blipFill>
        <p:spPr bwMode="auto">
          <a:xfrm>
            <a:off x="231786" y="3324050"/>
            <a:ext cx="5151755" cy="3195320"/>
          </a:xfrm>
          <a:prstGeom prst="rect">
            <a:avLst/>
          </a:prstGeom>
          <a:ln w="635">
            <a:solidFill>
              <a:srgbClr val="00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30A16E-6F18-4B4E-83B8-C6C4FE12E695}"/>
              </a:ext>
            </a:extLst>
          </p:cNvPr>
          <p:cNvSpPr txBox="1"/>
          <p:nvPr/>
        </p:nvSpPr>
        <p:spPr>
          <a:xfrm>
            <a:off x="4867754" y="6116347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203" y="92304"/>
            <a:ext cx="8458323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таблиц </a:t>
            </a:r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ER- </a:t>
            </a: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CCEF899-1C04-4973-83E3-FF879F3C73EF}"/>
              </a:ext>
            </a:extLst>
          </p:cNvPr>
          <p:cNvSpPr/>
          <p:nvPr/>
        </p:nvSpPr>
        <p:spPr>
          <a:xfrm>
            <a:off x="6801152" y="3975242"/>
            <a:ext cx="4740227" cy="1767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CB51357-7B66-4A1E-BD81-9B436910169E}"/>
              </a:ext>
            </a:extLst>
          </p:cNvPr>
          <p:cNvSpPr/>
          <p:nvPr/>
        </p:nvSpPr>
        <p:spPr>
          <a:xfrm>
            <a:off x="6801152" y="1740082"/>
            <a:ext cx="4740227" cy="1767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74FD8-D5EC-48E6-A0C1-8C7FDC6E1EAF}"/>
              </a:ext>
            </a:extLst>
          </p:cNvPr>
          <p:cNvSpPr txBox="1"/>
          <p:nvPr/>
        </p:nvSpPr>
        <p:spPr>
          <a:xfrm>
            <a:off x="6863175" y="2122259"/>
            <a:ext cx="4678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Скриншот фрагмента таблицы </a:t>
            </a:r>
          </a:p>
          <a:p>
            <a:r>
              <a:rPr lang="ru-RU" dirty="0"/>
              <a:t>описания каждой с описанием типов данных </a:t>
            </a:r>
          </a:p>
          <a:p>
            <a:r>
              <a:rPr lang="ru-RU" dirty="0"/>
              <a:t>и обозначение первичных и внешних ключей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008043-4D15-4A5D-9023-7AD12C169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2" y="897798"/>
            <a:ext cx="5623087" cy="2798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C212041-1AE4-42E1-8F4C-18EC03EDC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99" y="4059492"/>
            <a:ext cx="3870807" cy="25166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74BD64-5F6D-4D02-8590-D0F4DBD7DBC6}"/>
              </a:ext>
            </a:extLst>
          </p:cNvPr>
          <p:cNvSpPr txBox="1"/>
          <p:nvPr/>
        </p:nvSpPr>
        <p:spPr>
          <a:xfrm>
            <a:off x="6863175" y="4478371"/>
            <a:ext cx="4678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Скриншот фрагмента таблицы </a:t>
            </a:r>
          </a:p>
          <a:p>
            <a:r>
              <a:rPr lang="ru-RU" dirty="0"/>
              <a:t>описания каждой с описанием типов данных </a:t>
            </a:r>
          </a:p>
          <a:p>
            <a:r>
              <a:rPr lang="ru-RU" dirty="0"/>
              <a:t>и обозначение первичных и внешних ключей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91AFB8-85AA-44FF-BFC1-B004E56DCDBF}"/>
              </a:ext>
            </a:extLst>
          </p:cNvPr>
          <p:cNvSpPr txBox="1"/>
          <p:nvPr/>
        </p:nvSpPr>
        <p:spPr>
          <a:xfrm>
            <a:off x="4523950" y="5919324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ПРИМЕР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5CF5B-8C05-4BB2-953E-B16740F85F52}"/>
              </a:ext>
            </a:extLst>
          </p:cNvPr>
          <p:cNvSpPr txBox="1"/>
          <p:nvPr/>
        </p:nvSpPr>
        <p:spPr>
          <a:xfrm>
            <a:off x="4771514" y="3413007"/>
            <a:ext cx="1677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2556008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1692" y="1005840"/>
          <a:ext cx="11215893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текст. 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Вид деятельности (напечатать вид деятельности)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361950" indent="0" algn="l" defTabSz="914400" rtl="0" eaLnBrk="1" latinLnBrk="0" hangingPunct="1"/>
                      <a:r>
                        <a:rPr lang="ru-RU" sz="14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Из задания на ДП (перечень что реализовать в программном продукте)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текст</a:t>
                      </a:r>
                    </a:p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677</Words>
  <Application>Microsoft Office PowerPoint</Application>
  <PresentationFormat>Широкоэкранный</PresentationFormat>
  <Paragraphs>182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программного продукта</vt:lpstr>
      <vt:lpstr>Проектирование базы данных</vt:lpstr>
      <vt:lpstr>Описание таблиц ER- модели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Александрова Алёна Сергеевна</cp:lastModifiedBy>
  <cp:revision>50</cp:revision>
  <dcterms:created xsi:type="dcterms:W3CDTF">2023-05-28T07:05:17Z</dcterms:created>
  <dcterms:modified xsi:type="dcterms:W3CDTF">2024-05-24T04:39:31Z</dcterms:modified>
</cp:coreProperties>
</file>