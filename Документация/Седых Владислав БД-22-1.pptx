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99" r:id="rId3"/>
    <p:sldId id="295" r:id="rId4"/>
    <p:sldId id="288" r:id="rId5"/>
    <p:sldId id="293" r:id="rId6"/>
    <p:sldId id="290" r:id="rId7"/>
    <p:sldId id="300" r:id="rId8"/>
    <p:sldId id="298" r:id="rId9"/>
    <p:sldId id="296" r:id="rId10"/>
    <p:sldId id="29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17" autoAdjust="0"/>
    <p:restoredTop sz="74269" autoAdjust="0"/>
  </p:normalViewPr>
  <p:slideViewPr>
    <p:cSldViewPr snapToGrid="0">
      <p:cViewPr varScale="1">
        <p:scale>
          <a:sx n="120" d="100"/>
          <a:sy n="120" d="100"/>
        </p:scale>
        <p:origin x="138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389266-1B27-4525-B165-AD1A73342BE1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F4460-6503-445B-8A56-0254AB65E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50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комиссия! Тема дипломного проекта ……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62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Целью дипломного проектирования является создание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 </a:t>
            </a:r>
            <a:r>
              <a:rPr lang="ru-RU" sz="1200" b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дипломного проектирования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…….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dirty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Функциональные задачи программного продукта: …….</a:t>
            </a:r>
            <a:endParaRPr lang="ru-RU" sz="1200" b="0" dirty="0">
              <a:solidFill>
                <a:schemeClr val="accent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Данная тема актуальна на сегодняшний момент времени, так как …… (если есть)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1502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Предметной областью   веб-приложения является….  (если есть)</a:t>
            </a:r>
          </a:p>
          <a:p>
            <a:r>
              <a:rPr lang="ru-RU" dirty="0"/>
              <a:t>Это….. </a:t>
            </a:r>
            <a:endParaRPr lang="en-US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873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представлены инструментальные средства для разработки программного продукта, 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архитектура ...... (клиент-серверная; )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клиента использовалось веб инструменты: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сервера использовалось: …… 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проектирования….. Использовались …. Для……..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 ПРОСТО ПЕРЕЧИСЛИТЬ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09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dirty="0"/>
              <a:t>На этапе функционального проектирования программного продукта построены диаграммы </a:t>
            </a:r>
          </a:p>
          <a:p>
            <a:pPr algn="l"/>
            <a:r>
              <a:rPr lang="ru-RU" dirty="0"/>
              <a:t>вариантов использования (</a:t>
            </a:r>
            <a:r>
              <a:rPr lang="en-US" dirty="0"/>
              <a:t>USES CASE)</a:t>
            </a:r>
            <a:r>
              <a:rPr lang="ru-RU" dirty="0"/>
              <a:t> на которой выделено … (вставить) … ролей .</a:t>
            </a:r>
          </a:p>
          <a:p>
            <a:pPr algn="l"/>
            <a:endParaRPr lang="ru-RU" dirty="0"/>
          </a:p>
          <a:p>
            <a:pPr algn="l"/>
            <a:r>
              <a:rPr lang="ru-RU" dirty="0"/>
              <a:t>Диаграмма потоков данных (</a:t>
            </a:r>
            <a:r>
              <a:rPr lang="en-US" dirty="0"/>
              <a:t>DFD)</a:t>
            </a:r>
            <a:r>
              <a:rPr lang="ru-RU" dirty="0"/>
              <a:t>  -для  моделировании моделирования передачи информации (или физических компонент) из одной части в другую.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60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Инфологическая модель представляет информацию, которая дальше будет заложена в базу данных (сущности, атрибуты, связи).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построена ER-модель базы данных ……., которая содержит …..(вставить количество)  таблиц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База данных доведена до …. (вставить)  нормальной формы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8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Инфологическая модель представляет информацию, которая дальше будет заложена в базу данных (сущности, атрибуты, связи).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построена ER-модель базы данных ……., которая содержит …..(вставить количество)  таблиц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База данных доведена до …. (вставить)  нормальной формы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134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каждой таблице определены атрибуты и типы данных 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39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Демонстрация программного продукта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При работе выделены … (количество)  ролей, (назвать кто ) ….</a:t>
            </a:r>
          </a:p>
          <a:p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демонстрируем под заявленный функционал каждой роли (открыть в разных браузерах заранее) (если есть)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372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 в процессе дипломного проектирования продемонстрирован ….(вставить вид деятельности) в части реализации функционала …..(вставить) , </a:t>
            </a:r>
          </a:p>
          <a:p>
            <a:r>
              <a:rPr lang="ru-RU" dirty="0"/>
              <a:t>также было выполнено …… (вставить вид деятельности) через (…..вставить) , </a:t>
            </a:r>
          </a:p>
          <a:p>
            <a:endParaRPr lang="ru-RU" dirty="0"/>
          </a:p>
          <a:p>
            <a:r>
              <a:rPr lang="ru-RU" dirty="0"/>
              <a:t>В результате все цели (функциональные задачи) достигнуты (выполнены). </a:t>
            </a:r>
          </a:p>
          <a:p>
            <a:endParaRPr lang="ru-RU" dirty="0"/>
          </a:p>
          <a:p>
            <a:r>
              <a:rPr lang="ru-RU" dirty="0"/>
              <a:t>Спасибо.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54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B4493-E3C8-4013-ABF2-C703136AD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63EEDF8-475E-477C-A987-9B23A9803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BE86E1-9F5F-4CEA-9D81-1F2C8E07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BC3810-D6CA-4B12-8AA5-7DF5CF3DD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063BE-EA16-48A3-8992-B29920A9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5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051D6-DACB-4E1D-B3E0-21F301A0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31C8D4-6D3B-47D5-8ECA-4F425CA30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3EBD8D-49BF-4A85-BA57-68ACD048A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418BAA-0EBC-4340-9638-224B4EABD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A35976-5D74-40E0-B296-CE85083F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650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989C5-6A8D-4F34-9C66-848ABDAD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22CCB1-09A5-4E67-BCED-44887574F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591265-AA85-4038-980E-0E4D6AC21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59D130-0296-4360-ADC0-0EEDB20F4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F94C0C-4CED-4A84-A745-4ED26194C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5505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7F1C38-6D54-43A4-9A28-970F3680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D84946-3751-48EB-9B3F-73DBB7897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62CF63-5B79-45B2-B784-CE7648A1BD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1C32103-57A4-490F-A727-8370FC704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4ACB28-912D-46D0-9020-F3461B91B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EDB07B-116C-495A-A810-C2CA4898F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075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43607E-AEE7-45E8-973F-C6A0F44E6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8246A5-1EA2-4060-88B9-AEEF4D4BA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8B82C7B-9FB3-42C3-B7F9-D83006499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1F208E3-7A6B-44D3-AAE0-436FC7D3D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BEA751-75E2-4770-AC4C-ABDE479A7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C2F5611-7733-484E-B406-9B1D29C9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E223BB-96A8-4AA5-BDC6-57A8ECBA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096D070-498B-4DC0-BD7D-0D38BAB0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724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CAC72-5242-47A2-8742-679E93210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1C6E1FF-3A97-4325-8E27-8C31D4BC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E619FB1-8673-4A00-BB46-FEE2384C2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0E1D98-B347-40A5-A48A-99A25F2B7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651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D3D4373-5614-495A-A779-7A5B480A2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325AA6-96C1-4630-B4DE-BC098226B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F2DB7E-3440-41AF-915A-C05E90C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898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CD6E2C-BCA5-41E4-892B-2B8A35CDE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8BABE5-695C-4FC0-8127-36E6EF69E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FCF46C-D2D9-45FE-B285-2BEFDBA83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0008DD-915F-4D6B-9B4C-5ADD4E2C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79F4DB-73B0-4276-897E-D7ABFC42E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385446-C9EA-40EB-ACC5-3DE527918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66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478C-6799-43DC-97FA-9113AFCBB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1EFE25A-252C-487C-AD6C-CE86A769DA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31453A1-AD3C-47A3-9BB6-8A5066112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A20D80D-D7EB-4833-8538-CC4E43070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05F5C-D657-4864-A677-2C6394448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B13AE1-764F-405F-BD36-3EEF6331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067077-9B49-47B9-A5FE-80CD7FA38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63BF900-CE03-4A93-8FF9-2AA3ADEC76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AA9DC2-1C89-4838-9CDF-84897948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EB5615-1957-41FA-A180-3CC494ED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583B74-F5C4-4A0F-9A7B-44261E1E0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5168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81D8D13-5A14-4577-BF7A-F20310C58B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862C0B2-95FF-43B8-AC2D-08DD1E50D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B28C0F-C092-4F04-9B00-B43B2B151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4C4DC-42C2-4D75-BE1B-ED3AAB95E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95503A-4B2D-49DD-9141-91EF78BF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6364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A723B-5719-4EEA-B777-EAF3DA7FDF21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4A5C1-EBA6-4D9B-83CC-431CB510693B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1524000" y="731520"/>
            <a:ext cx="8534400" cy="34747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883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B2CF29-2723-4C42-8522-1A6544C4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6F97B-9842-48C5-BF92-7072EB4B4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D38571-CFC5-4622-B376-FD998376A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76DA3-B598-4B8A-8255-3391DDF783A7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80B3E-3EC7-431D-B69D-1ABB7A9AD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C3BBBD-9C88-4C2B-BC40-290AFD477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321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oiskkino.dev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7F0CE69-87EB-4A20-A6B5-BB5F26E30EFE}"/>
              </a:ext>
            </a:extLst>
          </p:cNvPr>
          <p:cNvSpPr txBox="1">
            <a:spLocks/>
          </p:cNvSpPr>
          <p:nvPr/>
        </p:nvSpPr>
        <p:spPr>
          <a:xfrm>
            <a:off x="2956347" y="2166319"/>
            <a:ext cx="6279306" cy="223315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2880"/>
            <a:r>
              <a:rPr lang="ru-RU" sz="44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Дипломный проект </a:t>
            </a:r>
          </a:p>
          <a:p>
            <a:pPr marL="182880"/>
            <a:endParaRPr lang="ru-RU" sz="4400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880"/>
            <a:r>
              <a:rPr lang="ru-RU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Веб-приложение «Кинотеатр»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634B-476B-4A2F-BF93-37FB94D1551F}"/>
              </a:ext>
            </a:extLst>
          </p:cNvPr>
          <p:cNvSpPr txBox="1"/>
          <p:nvPr/>
        </p:nvSpPr>
        <p:spPr>
          <a:xfrm>
            <a:off x="3273112" y="328071"/>
            <a:ext cx="56457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Иркутской области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Государственное бюджетное профессиональное 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образовательное учреждение Иркутской области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«Иркутский авиационный техникум»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(ГБПОУИО «ИАТ»)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D5ABF-E9F4-4772-9280-5F7BA2804737}"/>
              </a:ext>
            </a:extLst>
          </p:cNvPr>
          <p:cNvSpPr txBox="1"/>
          <p:nvPr/>
        </p:nvSpPr>
        <p:spPr>
          <a:xfrm>
            <a:off x="7123679" y="4910703"/>
            <a:ext cx="50683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Седых Владислав Михайлович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Группа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БД-22-1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Кубата Екатерина Сергеевна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5E94D-A645-4282-9D38-7B7D367B8784}"/>
              </a:ext>
            </a:extLst>
          </p:cNvPr>
          <p:cNvSpPr txBox="1"/>
          <p:nvPr/>
        </p:nvSpPr>
        <p:spPr>
          <a:xfrm>
            <a:off x="9731159" y="55990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01F7D-6C97-4306-9332-2700335BDBB5}"/>
              </a:ext>
            </a:extLst>
          </p:cNvPr>
          <p:cNvSpPr txBox="1"/>
          <p:nvPr/>
        </p:nvSpPr>
        <p:spPr>
          <a:xfrm>
            <a:off x="5356310" y="6345263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Иркутск 2026</a:t>
            </a:r>
          </a:p>
        </p:txBody>
      </p:sp>
    </p:spTree>
    <p:extLst>
      <p:ext uri="{BB962C8B-B14F-4D97-AF65-F5344CB8AC3E}">
        <p14:creationId xmlns:p14="http://schemas.microsoft.com/office/powerpoint/2010/main" val="27614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1778575" y="232584"/>
            <a:ext cx="8634849" cy="14323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>
                <a:solidFill>
                  <a:schemeClr val="accent1"/>
                </a:solidFill>
              </a:rPr>
              <a:t>Цель</a:t>
            </a:r>
            <a:r>
              <a:rPr lang="en-US" sz="3200" b="1" dirty="0">
                <a:solidFill>
                  <a:schemeClr val="accent1"/>
                </a:solidFill>
              </a:rPr>
              <a:t>, </a:t>
            </a:r>
            <a:r>
              <a:rPr lang="ru-RU" sz="3200" b="1" dirty="0">
                <a:solidFill>
                  <a:schemeClr val="accent1"/>
                </a:solidFill>
              </a:rPr>
              <a:t>задачи дипломного проектирования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773177" y="2017755"/>
            <a:ext cx="4951762" cy="3890063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Целью дипломного проектирования </a:t>
            </a:r>
            <a:r>
              <a:rPr lang="ru-RU" sz="2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является разработка полнофункционального, безопасного и удобного веб-приложения для автоматизации процесса бронирования и продажи билетов в кинотеатре.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19720AC8-DF0D-4A16-BF85-60B8C88DC2B2}"/>
              </a:ext>
            </a:extLst>
          </p:cNvPr>
          <p:cNvSpPr/>
          <p:nvPr/>
        </p:nvSpPr>
        <p:spPr>
          <a:xfrm>
            <a:off x="327803" y="1772399"/>
            <a:ext cx="11605972" cy="450489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D1FC7043-3359-4E87-9931-90746D0AC163}"/>
              </a:ext>
            </a:extLst>
          </p:cNvPr>
          <p:cNvSpPr txBox="1">
            <a:spLocks/>
          </p:cNvSpPr>
          <p:nvPr/>
        </p:nvSpPr>
        <p:spPr>
          <a:xfrm>
            <a:off x="6353476" y="2017754"/>
            <a:ext cx="4951762" cy="403318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20000"/>
              </a:lnSpc>
              <a:buNone/>
            </a:pPr>
            <a:r>
              <a:rPr lang="ru-RU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 достижения поставленной цели в проекте решен следующий комплекс задач: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Проведение предпроектного исследования.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Проектирование архитектуры веб-приложения.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Разработка технического задания.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Реализация логики серверной части веб-приложения.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Разработка пользовательского интерфейса.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Проектирование и реализация реляционной базы данных.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Тестирование и отладка веб-приложения.</a:t>
            </a:r>
          </a:p>
        </p:txBody>
      </p:sp>
    </p:spTree>
    <p:extLst>
      <p:ext uri="{BB962C8B-B14F-4D97-AF65-F5344CB8AC3E}">
        <p14:creationId xmlns:p14="http://schemas.microsoft.com/office/powerpoint/2010/main" val="392206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3298926" y="290048"/>
            <a:ext cx="863484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</a:rPr>
              <a:t>Предметная область дипломного проекта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258225" y="1613645"/>
            <a:ext cx="5737058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Предметной областью дипломного проекта является современный многозальный кинотеатр. Кинотеатр – это комплексное общественное заведение, основная деятельность которого заключается в организации публичных кинопоказов для широкой аудитории. Деятельность кинотеатра включает не только демонстрацию фильмов, но и управление коммерческими процессами, взаимодействие с дистрибьюторами, планирование работы, маркетинг и непосредственное обслуживание зрителей.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ED6FD72F-91C7-4F3D-B4FA-3362BA398D1C}"/>
              </a:ext>
            </a:extLst>
          </p:cNvPr>
          <p:cNvSpPr txBox="1">
            <a:spLocks/>
          </p:cNvSpPr>
          <p:nvPr/>
        </p:nvSpPr>
        <p:spPr>
          <a:xfrm>
            <a:off x="6604486" y="1462655"/>
            <a:ext cx="5507001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165100" lvl="0" indent="0" algn="just">
              <a:spcAft>
                <a:spcPts val="0"/>
              </a:spcAft>
              <a:buNone/>
            </a:pPr>
            <a:endParaRPr lang="ru-RU" sz="18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B87C41C-4773-4532-A6A3-185FF3B198B7}"/>
              </a:ext>
            </a:extLst>
          </p:cNvPr>
          <p:cNvSpPr/>
          <p:nvPr/>
        </p:nvSpPr>
        <p:spPr>
          <a:xfrm>
            <a:off x="6315969" y="1885132"/>
            <a:ext cx="4896918" cy="314804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FF2888-2361-4813-8238-83A9272FB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095" y="1885131"/>
            <a:ext cx="4887792" cy="3148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1064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9CFF2710-5C29-443A-A696-F9786282AB5C}"/>
              </a:ext>
            </a:extLst>
          </p:cNvPr>
          <p:cNvSpPr txBox="1">
            <a:spLocks/>
          </p:cNvSpPr>
          <p:nvPr/>
        </p:nvSpPr>
        <p:spPr>
          <a:xfrm>
            <a:off x="1699404" y="-100195"/>
            <a:ext cx="928202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Инструментальные средства разработки</a:t>
            </a: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B48BD70D-31AF-4588-958D-B470BEDBD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566789"/>
              </p:ext>
            </p:extLst>
          </p:nvPr>
        </p:nvGraphicFramePr>
        <p:xfrm>
          <a:off x="510028" y="988185"/>
          <a:ext cx="11171940" cy="563342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23980">
                  <a:extLst>
                    <a:ext uri="{9D8B030D-6E8A-4147-A177-3AD203B41FA5}">
                      <a16:colId xmlns:a16="http://schemas.microsoft.com/office/drawing/2014/main" val="489332136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699667990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359732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Этап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Изображение (логотип)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 инструмента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068126"/>
                  </a:ext>
                </a:extLst>
              </a:tr>
              <a:tr h="71212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программного продукта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19065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 Workbench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79013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Реализация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248937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06054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 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среда разработки)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PyCharm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860058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Python, html5,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css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05000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Разработка(фреймворки)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Django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061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Django test case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0927718"/>
                  </a:ext>
                </a:extLst>
              </a:tr>
            </a:tbl>
          </a:graphicData>
        </a:graphic>
      </p:graphicFrame>
      <p:sp>
        <p:nvSpPr>
          <p:cNvPr id="6" name="AutoShape 4" descr="Visual Studio Code Logo Vector SVG Icon - SVG Repo">
            <a:extLst>
              <a:ext uri="{FF2B5EF4-FFF2-40B4-BE49-F238E27FC236}">
                <a16:creationId xmlns:a16="http://schemas.microsoft.com/office/drawing/2014/main" id="{FD79F5A1-B225-4765-B243-43A7D0327C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CF444B-5BC2-419D-85AC-7F8C28A447C8}"/>
              </a:ext>
            </a:extLst>
          </p:cNvPr>
          <p:cNvSpPr txBox="1"/>
          <p:nvPr/>
        </p:nvSpPr>
        <p:spPr>
          <a:xfrm>
            <a:off x="11646716" y="6421554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3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1428051-7F47-42B2-BFAE-8EB79E73D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8" y="1435873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A560B2F-6441-4DC3-B119-CABEA4265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2117080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F7550F54-4721-443D-963A-7974B927C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2732405"/>
            <a:ext cx="579123" cy="597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821723C-6738-488E-946A-E3EE723F4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3399817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45C31100-300F-47F5-A827-D2DC6B8B0D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4048548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A669291D-BBB5-4F9F-A266-E1230AD1F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0267" y="4725084"/>
            <a:ext cx="520148" cy="52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20A8E02C-CEA7-44A6-987D-83BF67592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470" y="4695596"/>
            <a:ext cx="765529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>
            <a:extLst>
              <a:ext uri="{FF2B5EF4-FFF2-40B4-BE49-F238E27FC236}">
                <a16:creationId xmlns:a16="http://schemas.microsoft.com/office/drawing/2014/main" id="{4A27B70D-BDA6-4A42-8C39-A1645D284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9003" y="4695595"/>
            <a:ext cx="410815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>
            <a:extLst>
              <a:ext uri="{FF2B5EF4-FFF2-40B4-BE49-F238E27FC236}">
                <a16:creationId xmlns:a16="http://schemas.microsoft.com/office/drawing/2014/main" id="{E4484859-5F05-4D3B-9940-C218C6BFB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221" y="5342645"/>
            <a:ext cx="1029552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21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675" y="223148"/>
            <a:ext cx="8928586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программного продукта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1095160" y="1248389"/>
            <a:ext cx="46674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вариантов использования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/>
              <a:t>(</a:t>
            </a:r>
            <a:r>
              <a:rPr lang="en-US" sz="2000" dirty="0"/>
              <a:t>USES CASE)</a:t>
            </a:r>
            <a:r>
              <a:rPr lang="ru-RU" sz="2000" dirty="0"/>
              <a:t> 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4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CCEF899-1C04-4973-83E3-FF879F3C73EF}"/>
              </a:ext>
            </a:extLst>
          </p:cNvPr>
          <p:cNvSpPr/>
          <p:nvPr/>
        </p:nvSpPr>
        <p:spPr>
          <a:xfrm>
            <a:off x="590788" y="1930852"/>
            <a:ext cx="4896918" cy="36787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EC69366-B880-41BC-B240-885F8248D7E6}"/>
              </a:ext>
            </a:extLst>
          </p:cNvPr>
          <p:cNvSpPr/>
          <p:nvPr/>
        </p:nvSpPr>
        <p:spPr>
          <a:xfrm>
            <a:off x="6315968" y="1885131"/>
            <a:ext cx="5285243" cy="434312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95D4-F499-48D9-89D6-2569A1ADA379}"/>
              </a:ext>
            </a:extLst>
          </p:cNvPr>
          <p:cNvSpPr txBox="1"/>
          <p:nvPr/>
        </p:nvSpPr>
        <p:spPr>
          <a:xfrm>
            <a:off x="6470111" y="1248389"/>
            <a:ext cx="46674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потоков данных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000" dirty="0"/>
              <a:t>(</a:t>
            </a:r>
            <a:r>
              <a:rPr lang="en-US" sz="2000" dirty="0"/>
              <a:t>DFD)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002A685-951C-4EEC-AA13-6BC79A118CC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90788" y="1930851"/>
            <a:ext cx="4896918" cy="36787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4FCCBFC-552D-46F9-A3CE-2EC2418B747C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762596" y="1885131"/>
            <a:ext cx="6299835" cy="4768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7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7285" y="177119"/>
            <a:ext cx="7189575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5DA49E-30E7-40D5-9EAF-A123DB9BAA0B}"/>
              </a:ext>
            </a:extLst>
          </p:cNvPr>
          <p:cNvSpPr txBox="1"/>
          <p:nvPr/>
        </p:nvSpPr>
        <p:spPr>
          <a:xfrm>
            <a:off x="4383480" y="1203552"/>
            <a:ext cx="3425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Инфологическая модель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2BC43E9-EFE7-4DB4-A63E-41408B23EB7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342482" y="1887206"/>
            <a:ext cx="7507036" cy="46664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04169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03" y="0"/>
            <a:ext cx="7189575" cy="580445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5479227" y="380390"/>
            <a:ext cx="2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ER-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45EF57-A1FB-46DB-8827-38AD7363C2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22" y="780500"/>
            <a:ext cx="8117336" cy="6077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68939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4203" y="92304"/>
            <a:ext cx="8458323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Описание таблиц </a:t>
            </a:r>
            <a:r>
              <a:rPr lang="en-US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ER- </a:t>
            </a: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6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FD1233-C968-4053-9FC6-A98FC036E0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933558"/>
            <a:ext cx="4740227" cy="25573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4927D14-36E0-4A1C-B515-09C1B893B4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3548827"/>
            <a:ext cx="5065171" cy="14428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C1A250E-2C7E-464C-97FB-DF593E5C83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679" y="947475"/>
            <a:ext cx="5160069" cy="19128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7BC44AD-8DCC-4269-A841-B390D9C203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5087049"/>
            <a:ext cx="4598504" cy="13109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38F67DE-A912-469F-B379-DCC0B22F1D1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979" y="2989223"/>
            <a:ext cx="5199322" cy="12709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938B362-25A4-496F-A876-2E74C68B542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4139" y="4389065"/>
            <a:ext cx="5262161" cy="229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008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00BC0C-F276-4244-A7CD-BD0F4DCD9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779" y="2886256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Демонстрация дипломного продукта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BD571-39F3-4865-BB27-AA37ACFF1329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6539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03DB970B-9C80-46DC-8E32-7C5FC800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7808" y="0"/>
            <a:ext cx="3643659" cy="69971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2937D-A278-4C52-9A34-EB4FF55CE159}"/>
              </a:ext>
            </a:extLst>
          </p:cNvPr>
          <p:cNvSpPr txBox="1"/>
          <p:nvPr/>
        </p:nvSpPr>
        <p:spPr>
          <a:xfrm>
            <a:off x="11567585" y="637876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>
                <a:solidFill>
                  <a:schemeClr val="accent1"/>
                </a:solidFill>
              </a:rPr>
              <a:t>8</a:t>
            </a:r>
            <a:endParaRPr lang="ru-RU" sz="2000" b="1" dirty="0">
              <a:solidFill>
                <a:schemeClr val="accent1"/>
              </a:solidFill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3AF087-7F16-4D4B-BE0E-647816F63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35835"/>
              </p:ext>
            </p:extLst>
          </p:nvPr>
        </p:nvGraphicFramePr>
        <p:xfrm>
          <a:off x="351692" y="1005840"/>
          <a:ext cx="11215893" cy="324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Функциональные задачи программного продукта: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Проведён анализ предметной области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Определены объекты (Продукт, Норма, Блюдо, Рецепт, Складская операция, Накладная), их атрибуты и связи.</a:t>
                      </a:r>
                      <a:endParaRPr lang="ru-RU" sz="14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Выбраны и обоснованы инструменты реализации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Python, PySide6, SQLite,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SQLAlchemy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ReportLab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OpenPyXL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Составлено техническое задание по ГОСТ 34.602-2020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Отражены функциональные требования, требования к ПО, безопасности и тестированию.</a:t>
                      </a:r>
                      <a:endParaRPr lang="ru-RU" sz="14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Выполнено проектирование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архитектура локального монолитного приложения (MVC).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Построены диаграммы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Case и DFD.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Спроектирована база данных (15 таблиц, 3НФ, ER-модель).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Созданы прототипы 7 окон пользовательского интерфейса.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 программный продукт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Десктоп-приложение «СУПО» с полным циклом учёта питания и складских операций.</a:t>
                      </a:r>
                      <a:endParaRPr lang="ru-RU" sz="1400" b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21AFB60-0216-4FC8-B3C7-5348BCD2C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836802"/>
              </p:ext>
            </p:extLst>
          </p:nvPr>
        </p:nvGraphicFramePr>
        <p:xfrm>
          <a:off x="351692" y="644057"/>
          <a:ext cx="11215893" cy="6057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653802"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Функциональные задачи программного продукта: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Проведён анализ предметной области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 defTabSz="914400" rtl="0" eaLnBrk="1" latinLnBrk="0" hangingPunct="1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Определены объекты (Фильм, Зал, Сеанс, Место, Билет, Пользователь), их атрибуты и связи. Выявлены роли: администратор, менеджер, клиент.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46791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Выбраны и обоснованы инструменты реализации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Python, Django, PostgreSQL,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YooKassa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Poiskkino.dev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API, HTML5, CSS3,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ru-RU" sz="1400" b="0" i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Составлено техническое задание по ГОСТ 34.602-2020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Отражены функциональные требования, требования к ПО, безопасности и тестированию.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146143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Выполнено проектирование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архитектура клиент-серверного веб-приложения с использованием шаблона MVT. Построены диаграммы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Case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DFD. Спроектирована база данных (27 таблиц, 3НФ, ER-модель). Созданы прототипы 13 окон пользовательского интерфейса.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 программный продукт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Веб-приложение «Кинотеатр» с полным циклом бронирования билетов, онлайн-оплатой через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YooKassa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генерацией PDF-билетов с QR-кодом, импортом фильмов из API 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Poiskkino.dev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Проведено тестирование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 сценариев (6 функциональных + 1 GUI). Все сценарии выполнены успешно. Использован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2857548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документация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 defTabSz="914400" rtl="0" eaLnBrk="1" latinLnBrk="0" hangingPunct="1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Пояснительная записка, руководство пользователя, руководство менеджера, руководство администратора, инструкция по установке и настройке.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513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47958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922</Words>
  <Application>Microsoft Office PowerPoint</Application>
  <PresentationFormat>Широкоэкранный</PresentationFormat>
  <Paragraphs>160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Проектирование программного продукта</vt:lpstr>
      <vt:lpstr>Проектирование базы данных</vt:lpstr>
      <vt:lpstr>Проектирование базы данных</vt:lpstr>
      <vt:lpstr>Описание таблиц ER- модели</vt:lpstr>
      <vt:lpstr>Демонстрация дипломного продукта</vt:lpstr>
      <vt:lpstr>Вывод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_Moore.Skrim_</dc:creator>
  <cp:lastModifiedBy>П К</cp:lastModifiedBy>
  <cp:revision>61</cp:revision>
  <dcterms:created xsi:type="dcterms:W3CDTF">2023-05-28T07:05:17Z</dcterms:created>
  <dcterms:modified xsi:type="dcterms:W3CDTF">2026-06-07T10:08:49Z</dcterms:modified>
</cp:coreProperties>
</file>