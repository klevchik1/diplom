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99" r:id="rId3"/>
    <p:sldId id="295" r:id="rId4"/>
    <p:sldId id="288" r:id="rId5"/>
    <p:sldId id="293" r:id="rId6"/>
    <p:sldId id="290" r:id="rId7"/>
    <p:sldId id="300" r:id="rId8"/>
    <p:sldId id="298" r:id="rId9"/>
    <p:sldId id="296" r:id="rId10"/>
    <p:sldId id="29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17" autoAdjust="0"/>
    <p:restoredTop sz="74269" autoAdjust="0"/>
  </p:normalViewPr>
  <p:slideViewPr>
    <p:cSldViewPr snapToGrid="0">
      <p:cViewPr varScale="1">
        <p:scale>
          <a:sx n="84" d="100"/>
          <a:sy n="84" d="100"/>
        </p:scale>
        <p:origin x="12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2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выделено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потоков данных (</a:t>
            </a:r>
            <a:r>
              <a:rPr lang="en-US" dirty="0"/>
              <a:t>DFD)</a:t>
            </a:r>
            <a:r>
              <a:rPr lang="ru-RU" dirty="0"/>
              <a:t>  -для  моделировании моделирования передачи информации (или физических компонент) из одной части в другую.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0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8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34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каждой таблице определены атрибуты и типы данных 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39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 (если есть)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72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oiskkino.dev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956347" y="2166319"/>
            <a:ext cx="6279306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44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Веб-приложение «Кинотеатр»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7123679" y="4910703"/>
            <a:ext cx="50683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Седых Владислав Михайлович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БД-22-1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Кубата Екатерина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5E94D-A645-4282-9D38-7B7D367B8784}"/>
              </a:ext>
            </a:extLst>
          </p:cNvPr>
          <p:cNvSpPr txBox="1"/>
          <p:nvPr/>
        </p:nvSpPr>
        <p:spPr>
          <a:xfrm>
            <a:off x="9731159" y="55990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232584"/>
            <a:ext cx="8634849" cy="14323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1"/>
                </a:solidFill>
              </a:rPr>
              <a:t>Цель</a:t>
            </a:r>
            <a:r>
              <a:rPr lang="en-US" sz="3200" b="1" dirty="0">
                <a:solidFill>
                  <a:schemeClr val="accent1"/>
                </a:solidFill>
              </a:rPr>
              <a:t>, </a:t>
            </a:r>
            <a:r>
              <a:rPr lang="ru-RU" sz="3200" b="1" dirty="0">
                <a:solidFill>
                  <a:schemeClr val="accent1"/>
                </a:solidFill>
              </a:rPr>
              <a:t>задачи дипломного проектирования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773177" y="2017755"/>
            <a:ext cx="4951762" cy="389006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Целью дипломного проектирования </a:t>
            </a:r>
            <a:r>
              <a:rPr lang="ru-RU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является разработка полнофункционального, безопасного и удобного веб-приложения для автоматизации процесса бронирования и продажи билетов в кинотеатре.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19720AC8-DF0D-4A16-BF85-60B8C88DC2B2}"/>
              </a:ext>
            </a:extLst>
          </p:cNvPr>
          <p:cNvSpPr/>
          <p:nvPr/>
        </p:nvSpPr>
        <p:spPr>
          <a:xfrm>
            <a:off x="327803" y="1772399"/>
            <a:ext cx="11605972" cy="450489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1FC7043-3359-4E87-9931-90746D0AC163}"/>
              </a:ext>
            </a:extLst>
          </p:cNvPr>
          <p:cNvSpPr txBox="1">
            <a:spLocks/>
          </p:cNvSpPr>
          <p:nvPr/>
        </p:nvSpPr>
        <p:spPr>
          <a:xfrm>
            <a:off x="6353476" y="2017754"/>
            <a:ext cx="4951762" cy="40331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20000"/>
              </a:lnSpc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достижения поставленной цели в проекте решен следующий комплекс задач: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Проведение предпроектного исследования.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архитектуры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технического задания.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Реализация логики серверной части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пользовательского интерфейса.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и реализация реляционной базы данных.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Тестирование и отладка веб-приложения.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3298926" y="290048"/>
            <a:ext cx="863484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</a:rPr>
              <a:t>Предметная область дипломного проекта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258225" y="1613645"/>
            <a:ext cx="5737058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Предметной областью дипломного проекта является современный многозальный кинотеатр. Кинотеатр – это комплексное общественное заведение, основная деятельность которого заключается в организации публичных кинопоказов для широкой аудитории. Деятельность кинотеатра включает не только демонстрацию фильмов, но и управление коммерческими процессами, взаимодействие с дистрибьюторами, планирование работы, маркетинг и непосредственное обслуживание зрителей.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B87C41C-4773-4532-A6A3-185FF3B198B7}"/>
              </a:ext>
            </a:extLst>
          </p:cNvPr>
          <p:cNvSpPr/>
          <p:nvPr/>
        </p:nvSpPr>
        <p:spPr>
          <a:xfrm>
            <a:off x="6315969" y="1885132"/>
            <a:ext cx="4896918" cy="314804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FF2888-2361-4813-8238-83A9272FB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095" y="1885131"/>
            <a:ext cx="4887792" cy="3148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4" y="-100195"/>
            <a:ext cx="92820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3992071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PyCharm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Python, html5,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css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pytest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3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28051-7F47-42B2-BFAE-8EB79E73D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8" y="1435873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A560B2F-6441-4DC3-B119-CABEA4265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117080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F7550F54-4721-443D-963A-7974B927C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732405"/>
            <a:ext cx="579123" cy="597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21723C-6738-488E-946A-E3EE723F4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3399817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45C31100-300F-47F5-A827-D2DC6B8B0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4048548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A669291D-BBB5-4F9F-A266-E1230AD1F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0267" y="4725084"/>
            <a:ext cx="520148" cy="52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20A8E02C-CEA7-44A6-987D-83BF67592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470" y="4695596"/>
            <a:ext cx="765529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A27B70D-BDA6-4A42-8C39-A1645D284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003" y="4695595"/>
            <a:ext cx="410815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>
            <a:extLst>
              <a:ext uri="{FF2B5EF4-FFF2-40B4-BE49-F238E27FC236}">
                <a16:creationId xmlns:a16="http://schemas.microsoft.com/office/drawing/2014/main" id="{E4484859-5F05-4D3B-9940-C218C6BFB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221" y="5342645"/>
            <a:ext cx="1029552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ACEFC8-FD03-47FF-84D0-F06076F48EF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9703" y="6001555"/>
            <a:ext cx="1672594" cy="56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6965" y="63801"/>
            <a:ext cx="8928586" cy="577478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1054453" y="643798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/>
              <a:t>(</a:t>
            </a:r>
            <a:r>
              <a:rPr lang="en-US" sz="2000" dirty="0"/>
              <a:t>USES CASE)</a:t>
            </a:r>
            <a:r>
              <a:rPr lang="ru-RU" sz="2000" dirty="0"/>
              <a:t> 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470111" y="64127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потоков данных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000" dirty="0"/>
              <a:t>(</a:t>
            </a:r>
            <a:r>
              <a:rPr lang="en-US" sz="2000" dirty="0"/>
              <a:t>DFD)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0296DC-48ED-47FB-9B3E-9DEB7CC02B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5735" y="1519806"/>
            <a:ext cx="5596154" cy="4768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336E144-E6B9-4B82-8935-FCE435C77CA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86828" y="1519806"/>
            <a:ext cx="6299835" cy="4768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431" y="0"/>
            <a:ext cx="7189575" cy="602109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5DA49E-30E7-40D5-9EAF-A123DB9BAA0B}"/>
              </a:ext>
            </a:extLst>
          </p:cNvPr>
          <p:cNvSpPr txBox="1"/>
          <p:nvPr/>
        </p:nvSpPr>
        <p:spPr>
          <a:xfrm>
            <a:off x="4383480" y="402054"/>
            <a:ext cx="3425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Инфологическая модель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1E629-12DB-4637-9499-B4EC9E6D2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100" y="802164"/>
            <a:ext cx="8861799" cy="60558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03" y="0"/>
            <a:ext cx="7189575" cy="580445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479227" y="380390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5EF57-A1FB-46DB-8827-38AD736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22" y="780500"/>
            <a:ext cx="8117336" cy="6077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89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4203" y="92304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Описание таблиц </a:t>
            </a:r>
            <a:r>
              <a:rPr lang="en-US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ER- </a:t>
            </a: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6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9D3B045-DCC9-41C1-93B9-20816DE2E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42" y="907064"/>
            <a:ext cx="4747510" cy="25552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0CEC5D-CAF6-42AB-97EA-05F0AA9A3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00" y="3525680"/>
            <a:ext cx="5160069" cy="1588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4EC75FA-0181-4EEA-9ED2-3B7DF59E3C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9013" y="907064"/>
            <a:ext cx="5607288" cy="20742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668DF83-A6B3-46CF-A3A7-6F69DCEBEB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00" y="5177940"/>
            <a:ext cx="5262161" cy="1473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F16398-028E-4BD6-8188-62AC024F5B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3551" y="3016549"/>
            <a:ext cx="5827828" cy="13368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F1D6464-E9A5-410B-AF69-3620C39B86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6231" y="4388577"/>
            <a:ext cx="5160070" cy="22394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779" y="2886256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дипломного продукта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808" y="0"/>
            <a:ext cx="3643659" cy="6997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>
                <a:solidFill>
                  <a:schemeClr val="accent1"/>
                </a:solidFill>
              </a:rPr>
              <a:t>8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35835"/>
              </p:ext>
            </p:extLst>
          </p:nvPr>
        </p:nvGraphicFramePr>
        <p:xfrm>
          <a:off x="351692" y="1005840"/>
          <a:ext cx="11215893" cy="324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(Продукт, Норма, Блюдо, Рецепт, Складская операция, Накладная), их атрибуты и связи.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PySide6, SQLite,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SQLAlchemy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ReportLab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OpenPyXL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локального монолитного приложения (MVC).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Case и DFD.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Спроектирована база данных (15 таблиц, 3НФ, ER-модель).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Созданы прототипы 7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Десктоп-приложение «СУПО» с полным циклом учёта питания и складских операций.</a:t>
                      </a:r>
                      <a:endParaRPr lang="ru-RU" sz="1400" b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21AFB60-0216-4FC8-B3C7-5348BCD2C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36802"/>
              </p:ext>
            </p:extLst>
          </p:nvPr>
        </p:nvGraphicFramePr>
        <p:xfrm>
          <a:off x="351692" y="644057"/>
          <a:ext cx="11215893" cy="6057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653802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(Фильм, Зал, Сеанс, Место, Билет, Пользователь), их атрибуты и связи. Выявлены роли: администратор, менеджер, клиент.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46791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Django, PostgreSQL,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API, HTML5, CSS3,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14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146143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клиент-серверного веб-приложения с использованием шаблона MVT. 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DFD. Спроектирована база данных (27 таблиц, 3НФ, ER-модель). Созданы прототипы 13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Веб-приложение «Кинотеатр» с полным циклом бронирования билетов, онлайн-оплатой через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генерацией PDF-билетов с QR-кодом, импортом фильмов из API 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Проведено тестирование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 сценариев (6 функциональных + 1 GUI). Все сценарии выполнены успешно. Использован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857548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документация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Пояснительная записка, руководство пользователя, руководство менеджера, руководство администратора, инструкция по установке и настройке.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51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</TotalTime>
  <Words>905</Words>
  <Application>Microsoft Office PowerPoint</Application>
  <PresentationFormat>Широкоэкранный</PresentationFormat>
  <Paragraphs>160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Проектирование программного продукта</vt:lpstr>
      <vt:lpstr>Проектирование базы данных</vt:lpstr>
      <vt:lpstr>Проектирование базы данных</vt:lpstr>
      <vt:lpstr>Описание таблиц ER- модели</vt:lpstr>
      <vt:lpstr>Демонстрация дипломного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Ivan</cp:lastModifiedBy>
  <cp:revision>64</cp:revision>
  <dcterms:created xsi:type="dcterms:W3CDTF">2023-05-28T07:05:17Z</dcterms:created>
  <dcterms:modified xsi:type="dcterms:W3CDTF">2026-06-23T00:05:15Z</dcterms:modified>
</cp:coreProperties>
</file>